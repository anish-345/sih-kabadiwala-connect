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b="1" sz="2200">
                <a:solidFill>
                  <a:srgbClr val="102C57"/>
                </a:solidFill>
              </a:rPr>
              <a:t>KABADIWALA CONNECT (कबाड़ीवाला कनेक्ट)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0" sz="1300">
                <a:solidFill>
                  <a:srgbClr val="1E56A0"/>
                </a:solidFill>
              </a:rPr>
              <a:t>Offline-First, Vernacular E-Waste Traceability &amp; Fair Price Marketplace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Problem Statement ID: </a:t>
            </a:r>
            <a:r>
              <a:rPr b="0" sz="1350">
                <a:solidFill>
                  <a:srgbClr val="283241"/>
                </a:solidFill>
              </a:rPr>
              <a:t>26229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Problem Statement Title: </a:t>
            </a:r>
            <a:r>
              <a:rPr b="0" sz="1350">
                <a:solidFill>
                  <a:srgbClr val="283241"/>
                </a:solidFill>
              </a:rPr>
              <a:t>Informal E-Waste Collector Formalization, Price Discovery, Traceability &amp; EPR Compliance Platform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Theme: </a:t>
            </a:r>
            <a:r>
              <a:rPr b="0" sz="1350">
                <a:solidFill>
                  <a:srgbClr val="283241"/>
                </a:solidFill>
              </a:rPr>
              <a:t>Clean &amp; Green Technology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PS Category: </a:t>
            </a:r>
            <a:r>
              <a:rPr b="0" sz="1350">
                <a:solidFill>
                  <a:srgbClr val="283241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Ministry / Organization: </a:t>
            </a:r>
            <a:r>
              <a:rPr b="0" sz="1350">
                <a:solidFill>
                  <a:srgbClr val="283241"/>
                </a:solidFill>
              </a:rPr>
              <a:t>Ministry of Mines (MoM) / JNARDDC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Team ID: </a:t>
            </a:r>
            <a:r>
              <a:rPr b="0" sz="1350">
                <a:solidFill>
                  <a:srgbClr val="283241"/>
                </a:solidFill>
              </a:rPr>
              <a:t>[Registered Team ID]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102C57"/>
                </a:solidFill>
              </a:rPr>
              <a:t>Team Name: </a:t>
            </a:r>
            <a:r>
              <a:rPr b="0" sz="1350">
                <a:solidFill>
                  <a:srgbClr val="283241"/>
                </a:solidFill>
              </a:rPr>
              <a:t>[Registered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b="1" sz="2200">
                <a:solidFill>
                  <a:srgbClr val="102C57"/>
                </a:solidFill>
              </a:rPr>
              <a:t>IDEA TITLE: KABADIWALA CONNECT (कबाड़ीवाला कनेक्ट)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b="1" sz="1300">
                <a:solidFill>
                  <a:srgbClr val="1E56A0"/>
                </a:solidFill>
              </a:rPr>
              <a:t>1. Proposed Solution &amp; Core Working Concept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100% Offline-First Architecture: </a:t>
            </a:r>
            <a:r>
              <a:rPr b="0" sz="1100">
                <a:solidFill>
                  <a:srgbClr val="283241"/>
                </a:solidFill>
              </a:rPr>
              <a:t>Runs with zero dropped lots on 2G/Airplane mode; encrypted local SQLite (Drift) with 24-hr cached gate prices ensures seamless operations on cart collection routes.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Vernacular Voice-First UX (Bhashini AI): </a:t>
            </a:r>
            <a:r>
              <a:rPr b="0" sz="1100">
                <a:solidFill>
                  <a:srgbClr val="283241"/>
                </a:solidFill>
              </a:rPr>
              <a:t>Spoken Hindi &amp; Marathi audio (STT/TTS) paired with 60dp touch targets and pictorial cards removes all literacy barriers for informal scrap workers.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Edge AI Scrap Recognition: </a:t>
            </a:r>
            <a:r>
              <a:rPr b="0" sz="1100">
                <a:solidFill>
                  <a:srgbClr val="283241"/>
                </a:solidFill>
              </a:rPr>
              <a:t>On-device YOLOv8-Nano INT8 (4.2 MB) classifies 26 scrap categories (PCBs, Li-ion, CRT, cables) in &lt;60ms via Android NNAPI acceleration.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2. How It Addresses Root Industry Problems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Eliminates Middleman Exploitation: </a:t>
            </a:r>
            <a:r>
              <a:rPr b="0" sz="1100">
                <a:solidFill>
                  <a:srgbClr val="283241"/>
                </a:solidFill>
              </a:rPr>
              <a:t>Bypasses 40% arbitrary intermediary margins and 20% weight deductions; links workers directly to CPCB recyclers (+136% net cash: ₹3,800 vs ₹1,610 on 20kg PCB).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Formalizes EPR &amp; Critical Minerals: </a:t>
            </a:r>
            <a:r>
              <a:rPr b="0" sz="1100">
                <a:solidFill>
                  <a:srgbClr val="283241"/>
                </a:solidFill>
              </a:rPr>
              <a:t>Unlocks Ministry of Mines NCMM ₹1,500 Cr incentives and generates CPCB Form-6 digital audit manifests for previously untracked scrap.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3. Innovation and Uniqueness of the Solution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Zero-Connectivity Cryptographic Proof: </a:t>
            </a:r>
            <a:r>
              <a:rPr b="0" sz="1100">
                <a:solidFill>
                  <a:srgbClr val="283241"/>
                </a:solidFill>
              </a:rPr>
              <a:t>Dual-custody HMAC-SHA256 / ECDSA signed QR tokens generated &amp; verified completely off-grid.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On-Device Physics Anti-Fraud: </a:t>
            </a:r>
            <a:r>
              <a:rPr b="0" sz="1100">
                <a:solidFill>
                  <a:srgbClr val="283241"/>
                </a:solidFill>
              </a:rPr>
              <a:t>Calculates volume-to-density Z-scores in real-time, instantly flagging rock/water ballast fraud.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Zero-Fee Collector Model: </a:t>
            </a:r>
            <a:r>
              <a:rPr b="0" sz="1100">
                <a:solidFill>
                  <a:srgbClr val="283241"/>
                </a:solidFill>
              </a:rPr>
              <a:t>100% free for kabadiwalas; sustainably monetized via a 2% compliance fee paid by authorized recyclers.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b="1" sz="1300">
                <a:solidFill>
                  <a:srgbClr val="1E56A0"/>
                </a:solidFill>
              </a:rPr>
              <a:t>1. Technologies to be Used (Languages, Frameworks, Hardware)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Frontend &amp; Mobile Client: </a:t>
            </a:r>
            <a:r>
              <a:rPr b="0" sz="1100">
                <a:solidFill>
                  <a:srgbClr val="283241"/>
                </a:solidFill>
              </a:rPr>
              <a:t>Flutter 3.24 (Dart) — Single cross-platform codebase targeting Android (collector app) &amp; Web (recycler portal/admin dashboard).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State Management &amp; Storage: </a:t>
            </a:r>
            <a:r>
              <a:rPr b="0" sz="1100">
                <a:solidFill>
                  <a:srgbClr val="283241"/>
                </a:solidFill>
              </a:rPr>
              <a:t>Riverpod 2.5 (Clean Architecture + Repository Pattern), GoRouter 14; SQLite via Drift ORM with Transactional Outbox Pattern.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Edge AI &amp; Voice Services: </a:t>
            </a:r>
            <a:r>
              <a:rPr b="0" sz="1100">
                <a:solidFill>
                  <a:srgbClr val="283241"/>
                </a:solidFill>
              </a:rPr>
              <a:t>TensorFlow Lite YOLOv8-Nano INT8 (4.2 MB, &lt;60ms NNAPI) + Digital India Bhashini Dhruva AI API (Hindi/Marathi STT &amp; TTS).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Security &amp; Backend Services: </a:t>
            </a:r>
            <a:r>
              <a:rPr b="0" sz="1100">
                <a:solidFill>
                  <a:srgbClr val="283241"/>
                </a:solidFill>
              </a:rPr>
              <a:t>Pure Dart ECDSA secp256r1 &amp; HMAC-SHA256, TLS 1.3 certificate pinning; Rust (Axum) backend, PostgreSQL 16 + PostGIS, Redis 7.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2. Methodology and Process for Implementation (Working Prototype Flow)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Step 1 [Collection &amp; Valuation]: </a:t>
            </a:r>
            <a:r>
              <a:rPr b="0" sz="1100">
                <a:solidFill>
                  <a:srgbClr val="283241"/>
                </a:solidFill>
              </a:rPr>
              <a:t>Collector captures scrap image → TFLite detects class → Spoken weight captured via Bhashini → Density check validates authenticity → Live pricing shown.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Step 2 [Atomic Local Write]: </a:t>
            </a:r>
            <a:r>
              <a:rPr b="0" sz="1100">
                <a:solidFill>
                  <a:srgbClr val="283241"/>
                </a:solidFill>
              </a:rPr>
              <a:t>Record saved in local Drift DB + Outbox table in one atomic transaction (100% offline-ready; zero dropped data).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Step 3 [Cryptographic Handover]: </a:t>
            </a:r>
            <a:r>
              <a:rPr b="0" sz="1100">
                <a:solidFill>
                  <a:srgbClr val="283241"/>
                </a:solidFill>
              </a:rPr>
              <a:t>Ephemeral signed QR generated on collector device → Recycler scans &amp; verifies signature offline → Dual-custody photos captured.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Step 4 [Background Sync &amp; Payout]: </a:t>
            </a:r>
            <a:r>
              <a:rPr b="0" sz="1100">
                <a:solidFill>
                  <a:srgbClr val="283241"/>
                </a:solidFill>
              </a:rPr>
              <a:t>WorkManager pushes batched Protobuf payloads to backend on network reconnect → CPCB Form-6 manifest created → Spot cash / UPI payment confirmed.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1E56A0"/>
                </a:solidFill>
              </a:rPr>
              <a:t>1. Analysis of the Feasibility of the Idea (Technical, Operational, Economic)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Technical Feasibility: </a:t>
            </a:r>
            <a:r>
              <a:rPr b="0" sz="1100">
                <a:solidFill>
                  <a:srgbClr val="283241"/>
                </a:solidFill>
              </a:rPr>
              <a:t>Benchmarked on budget ₹6,000 Android phones (Redmi 9, 3 GB RAM, Android 10); cold launch &lt;3s, AI inference &lt;60ms (NNAPI) / 115ms (CPU), APK &lt;28 MB. Zero cloud dependency during collection.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Operational Feasibility: </a:t>
            </a:r>
            <a:r>
              <a:rPr b="0" sz="1100">
                <a:solidFill>
                  <a:srgbClr val="283241"/>
                </a:solidFill>
              </a:rPr>
              <a:t>Field-validated with scrap workers in Pune (Nana Peth &amp; Bhosari MIDC). 3-tap voice workflow enables instant adoption with zero prior digital training.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Economic Viability &amp; Unit Economics: </a:t>
            </a:r>
            <a:r>
              <a:rPr b="0" sz="1100">
                <a:solidFill>
                  <a:srgbClr val="283241"/>
                </a:solidFill>
              </a:rPr>
              <a:t>Net collector take-home increases from ₹1,610 to ₹3,800 on 20 kg PCB (+136% gain). Platform sustains on 2% recycler fee (₹500/tonne). Break-even at 160 tonnes/mo (at 200 tonnes/mo: ₹1L revenue vs ₹80k fixed costs).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2. Potential Challenges, Risks &amp; Strategies for Overcoming Them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Low Literacy &amp; Digital Hesitancy: </a:t>
            </a:r>
            <a:r>
              <a:rPr b="0" sz="1100">
                <a:solidFill>
                  <a:srgbClr val="283241"/>
                </a:solidFill>
              </a:rPr>
              <a:t>Mitigation: 100% Bhashini voice navigation in Hindi/Marathi; high-contrast pictorial UI cards; zero typing required.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Intermittent / Zero Connectivity: </a:t>
            </a:r>
            <a:r>
              <a:rPr b="0" sz="1100">
                <a:solidFill>
                  <a:srgbClr val="283241"/>
                </a:solidFill>
              </a:rPr>
              <a:t>Mitigation: Store-and-forward Transactional Outbox pattern; local SQLite cache; auto-sync via WorkManager.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Material Adulteration &amp; Weight Fraud: </a:t>
            </a:r>
            <a:r>
              <a:rPr b="0" sz="1100">
                <a:solidFill>
                  <a:srgbClr val="283241"/>
                </a:solidFill>
              </a:rPr>
              <a:t>Mitigation: Edge AI volume-density Z-score validation + dual-custody photo hashing + weighbridge re-check (&lt;3% tolerance).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Recycler Disintermediation (Fee Bypass): </a:t>
            </a:r>
            <a:r>
              <a:rPr b="0" sz="1100">
                <a:solidFill>
                  <a:srgbClr val="283241"/>
                </a:solidFill>
              </a:rPr>
              <a:t>Mitigation: Regulatory lock-in — CPCB EPR certificates and NCMM subsidies are legally unlocked ONLY via platform-verified handovers.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1E56A0"/>
                </a:solidFill>
              </a:rPr>
              <a:t>1. Potential Impact on the Target Audience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Informal Collectors (Kabadiwalas): </a:t>
            </a:r>
            <a:r>
              <a:rPr b="0" sz="1100">
                <a:solidFill>
                  <a:srgbClr val="283241"/>
                </a:solidFill>
              </a:rPr>
              <a:t>Income surges +18% to +136% per lot; eliminates exploitative middleman deductions; digital ledger builds verified credit score for formal bank loans (PM SVANidhi).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Authorized Recyclers: </a:t>
            </a:r>
            <a:r>
              <a:rPr b="0" sz="1100">
                <a:solidFill>
                  <a:srgbClr val="283241"/>
                </a:solidFill>
              </a:rPr>
              <a:t>Direct, reliable access to 95% of e-waste collection stream; automated CPCB Form-6 digital manifest generation eliminates manual paperwork &amp; audit risks.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Government &amp; Regulators (MoM &amp; CPCB): </a:t>
            </a:r>
            <a:r>
              <a:rPr b="0" sz="1100">
                <a:solidFill>
                  <a:srgbClr val="283241"/>
                </a:solidFill>
              </a:rPr>
              <a:t>Full digital traceability of domestic critical mineral recycling; eliminates ghost EPR credits and black-market e-waste leakages.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2. Benefits of the Solution (Social, Economic, Environmental)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Economic Benefits: </a:t>
            </a:r>
            <a:r>
              <a:rPr b="0" sz="1100">
                <a:solidFill>
                  <a:srgbClr val="283241"/>
                </a:solidFill>
              </a:rPr>
              <a:t>Protects ₹1,500+ Cr worth of strategic minerals (Li, Co, Nd, Ta, Ga); adds ₹8,700+ extra income annually per collector household; self-funding 2% fee model.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Social Benefits &amp; Health Protection: </a:t>
            </a:r>
            <a:r>
              <a:rPr b="0" sz="1100">
                <a:solidFill>
                  <a:srgbClr val="283241"/>
                </a:solidFill>
              </a:rPr>
              <a:t>Formalizes unorganized rag-pickers into recognized green micro-entrepreneurs; eliminates child labour exposure; audio alerts prevent toxic lead &amp; acid inhalation.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Environmental Benefits: </a:t>
            </a:r>
            <a:r>
              <a:rPr b="0" sz="1100">
                <a:solidFill>
                  <a:srgbClr val="283241"/>
                </a:solidFill>
              </a:rPr>
              <a:t>Eliminates hazardous open cable burning and backyard cyanide/acid leaching; diverts heavy metals (Pb, Cd, Hg) from soil, open drains, and landfills.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00">
                <a:solidFill>
                  <a:srgbClr val="1E56A0"/>
                </a:solidFill>
              </a:rPr>
              <a:t>1. Ground Field Research &amp; Empirical Datasets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Collector Field Interviews (Pune): </a:t>
            </a:r>
            <a:r>
              <a:rPr b="0" sz="1100">
                <a:solidFill>
                  <a:srgbClr val="283241"/>
                </a:solidFill>
              </a:rPr>
              <a:t>Ramesh Shinde (18-yr collector, Nana Peth) — documented middleman 20% weight cut; Sushila Bai Jadhav (Micro-aggregator, PCMC) — verified safety &amp; cluster pickup needs.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Grounded Operational Datasets: </a:t>
            </a:r>
            <a:r>
              <a:rPr b="0" sz="1100">
                <a:solidFill>
                  <a:srgbClr val="283241"/>
                </a:solidFill>
              </a:rPr>
              <a:t>CPCB Authorized Recyclers Registry (CPCB/EWR/MH/2023/048, CPCB/EWR/MH/2021/019); JNARDDC Market Benchmark (prices.json: 10 calibrated e-waste scrap grades).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2. Government Policies &amp; Regulatory Frameworks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MoEFCC: </a:t>
            </a:r>
            <a:r>
              <a:rPr b="0" sz="1100">
                <a:solidFill>
                  <a:srgbClr val="283241"/>
                </a:solidFill>
              </a:rPr>
              <a:t>E-Waste (Management) Rules, 2022 — Formalization of Extended Producer Responsibility (EPR) mandates.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Ministry of Mines (MoM) / JNARDDC: </a:t>
            </a:r>
            <a:r>
              <a:rPr b="0" sz="1100">
                <a:solidFill>
                  <a:srgbClr val="283241"/>
                </a:solidFill>
              </a:rPr>
              <a:t>National Critical Minerals Mission (NCMM) ₹1,500 Cr Recycling Incentive Scheme (2025–2031).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CPCB Guidelines: </a:t>
            </a:r>
            <a:r>
              <a:rPr b="0" sz="1100">
                <a:solidFill>
                  <a:srgbClr val="283241"/>
                </a:solidFill>
              </a:rPr>
              <a:t>Guidelines on Implementation of E-Waste Management Rules &amp; EPR Certificate Floor Pricing (2024).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Digital India (MeitY): </a:t>
            </a:r>
            <a:r>
              <a:rPr b="0" sz="1100">
                <a:solidFill>
                  <a:srgbClr val="283241"/>
                </a:solidFill>
              </a:rPr>
              <a:t>Bhashini Open AI Platform — National Public Digital Infrastructure for Vernacular Language Technologies.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00">
                <a:solidFill>
                  <a:srgbClr val="1E56A0"/>
                </a:solidFill>
              </a:rPr>
              <a:t>3. Academic Literature &amp; Technical Foundations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Sengupta et al. (2022): </a:t>
            </a:r>
            <a:r>
              <a:rPr b="0" sz="1100">
                <a:solidFill>
                  <a:srgbClr val="283241"/>
                </a:solidFill>
              </a:rPr>
              <a:t>Circular economy and household e-waste management in India — Monash University &amp; IIT Bombay.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E56A0"/>
                </a:solidFill>
              </a:rPr>
              <a:t>• </a:t>
            </a:r>
            <a:r>
              <a:rPr b="1" sz="1100">
                <a:solidFill>
                  <a:srgbClr val="102C57"/>
                </a:solidFill>
              </a:rPr>
              <a:t>Ultralytics &amp; Google TFLite: </a:t>
            </a:r>
            <a:r>
              <a:rPr b="0" sz="1100">
                <a:solidFill>
                  <a:srgbClr val="283241"/>
                </a:solidFill>
              </a:rPr>
              <a:t>YOLOv8 Edge Neural Network Architecture &amp; TensorFlow Lite NNAPI Android Hardware Acceleration.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